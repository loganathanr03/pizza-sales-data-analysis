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9" r:id="rId13"/>
    <p:sldId id="280" r:id="rId14"/>
    <p:sldId id="281" r:id="rId15"/>
    <p:sldId id="282" r:id="rId16"/>
    <p:sldId id="283" r:id="rId17"/>
    <p:sldId id="284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9" r:id="rId26"/>
    <p:sldId id="300" r:id="rId27"/>
    <p:sldId id="298" r:id="rId28"/>
    <p:sldId id="290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81" autoAdjust="0"/>
    <p:restoredTop sz="96178" autoAdjust="0"/>
  </p:normalViewPr>
  <p:slideViewPr>
    <p:cSldViewPr snapToGrid="0">
      <p:cViewPr>
        <p:scale>
          <a:sx n="100" d="100"/>
          <a:sy n="100" d="100"/>
        </p:scale>
        <p:origin x="69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019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814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772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193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361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84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694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003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220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763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585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301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9222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6473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1094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6909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083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71A94-CC19-4EFA-A801-7B436E96BBC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712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4E6E316-1E1A-416B-9E62-ABF6F92F3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3538" y="1371602"/>
            <a:ext cx="4149968" cy="1943093"/>
          </a:xfrm>
        </p:spPr>
        <p:txBody>
          <a:bodyPr>
            <a:normAutofit/>
          </a:bodyPr>
          <a:lstStyle/>
          <a:p>
            <a:r>
              <a:rPr lang="en-GB" b="0" i="0" dirty="0">
                <a:effectLst/>
                <a:latin typeface="times" panose="02020603050405020304" pitchFamily="18" charset="0"/>
              </a:rPr>
              <a:t>Pizza Sales – Data Analysis</a:t>
            </a:r>
            <a:br>
              <a:rPr lang="en-GB" b="0" i="0" dirty="0">
                <a:effectLst/>
                <a:latin typeface="times" panose="02020603050405020304" pitchFamily="18" charset="0"/>
              </a:rPr>
            </a:br>
            <a:br>
              <a:rPr lang="en-GB" b="0" i="0" dirty="0">
                <a:effectLst/>
                <a:latin typeface="times" panose="02020603050405020304" pitchFamily="18" charset="0"/>
              </a:rPr>
            </a:b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D29C5BA-DB24-4B1E-ADC1-235D5FD9DEDE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91" r="5264" b="12884"/>
          <a:stretch/>
        </p:blipFill>
        <p:spPr bwMode="auto">
          <a:xfrm>
            <a:off x="7332785" y="914400"/>
            <a:ext cx="3947746" cy="3982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2392D8-57D1-4B33-BB47-94C8B0FE4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77407" y="2564676"/>
            <a:ext cx="3086099" cy="1030222"/>
          </a:xfrm>
        </p:spPr>
        <p:txBody>
          <a:bodyPr/>
          <a:lstStyle/>
          <a:p>
            <a:pPr algn="r"/>
            <a:r>
              <a:rPr lang="en-IN" dirty="0"/>
              <a:t>An analytical overview on Pizza Sales dataset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0200ACE-D558-487B-A85F-8A855E514BC1}"/>
              </a:ext>
            </a:extLst>
          </p:cNvPr>
          <p:cNvCxnSpPr>
            <a:cxnSpLocks/>
          </p:cNvCxnSpPr>
          <p:nvPr/>
        </p:nvCxnSpPr>
        <p:spPr>
          <a:xfrm>
            <a:off x="2813538" y="2564676"/>
            <a:ext cx="4149969" cy="0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028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6EA1E-5309-44D0-B11D-A695F5EFB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5569" y="0"/>
            <a:ext cx="5426158" cy="585216"/>
          </a:xfrm>
        </p:spPr>
        <p:txBody>
          <a:bodyPr/>
          <a:lstStyle/>
          <a:p>
            <a:pPr algn="l"/>
            <a:r>
              <a:rPr lang="en-IN" dirty="0"/>
              <a:t>I. Introduction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7E7BEC-25F4-4C69-A3CD-2FDB9AAB41F3}"/>
              </a:ext>
            </a:extLst>
          </p:cNvPr>
          <p:cNvSpPr txBox="1"/>
          <p:nvPr/>
        </p:nvSpPr>
        <p:spPr>
          <a:xfrm>
            <a:off x="1575569" y="666105"/>
            <a:ext cx="91974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effectLst/>
                <a:latin typeface="times" panose="02020603050405020304" pitchFamily="18" charset="0"/>
              </a:rPr>
              <a:t>This project explores the Pizza Sales dataset to uncover patterns and factors affecting Pizza Sales. The dataset includes detailed records that related to pizza sales and other affecting factors.</a:t>
            </a:r>
          </a:p>
          <a:p>
            <a:endParaRPr lang="en-GB" dirty="0">
              <a:latin typeface="times" panose="02020603050405020304" pitchFamily="18" charset="0"/>
            </a:endParaRPr>
          </a:p>
          <a:p>
            <a:pPr algn="l"/>
            <a:r>
              <a:rPr lang="en-IN" b="0" i="0" dirty="0">
                <a:effectLst/>
                <a:latin typeface="times" panose="02020603050405020304" pitchFamily="18" charset="0"/>
              </a:rPr>
              <a:t>In this project, we analyse this dataset using Python libraries such as Pandas, NumPy, and Matplotlib/Seaborn.</a:t>
            </a:r>
          </a:p>
          <a:p>
            <a:pPr algn="l"/>
            <a:endParaRPr lang="en-IN" b="0" i="0" dirty="0">
              <a:effectLst/>
              <a:latin typeface="times" panose="02020603050405020304" pitchFamily="18" charset="0"/>
            </a:endParaRPr>
          </a:p>
          <a:p>
            <a:pPr algn="l"/>
            <a:r>
              <a:rPr lang="en-IN" b="1" i="0" dirty="0">
                <a:effectLst/>
                <a:latin typeface="times" panose="02020603050405020304" pitchFamily="18" charset="0"/>
              </a:rPr>
              <a:t>Objectives</a:t>
            </a:r>
            <a:r>
              <a:rPr lang="en-IN" b="0" i="0" dirty="0">
                <a:effectLst/>
                <a:latin typeface="times" panose="02020603050405020304" pitchFamily="18" charset="0"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times" panose="02020603050405020304" pitchFamily="18" charset="0"/>
              </a:rPr>
              <a:t>Explore dataset structure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times" panose="02020603050405020304" pitchFamily="18" charset="0"/>
              </a:rPr>
              <a:t>Perform cleaning and pre-processing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times" panose="02020603050405020304" pitchFamily="18" charset="0"/>
              </a:rPr>
              <a:t>Generate insights from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times" panose="02020603050405020304" pitchFamily="18" charset="0"/>
              </a:rPr>
              <a:t>Visualize important trends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972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6EA1E-5309-44D0-B11D-A695F5EFB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0740" y="0"/>
            <a:ext cx="5426158" cy="585216"/>
          </a:xfrm>
        </p:spPr>
        <p:txBody>
          <a:bodyPr/>
          <a:lstStyle/>
          <a:p>
            <a:pPr algn="l"/>
            <a:r>
              <a:rPr lang="en-IN" dirty="0"/>
              <a:t>II. Dataset Description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D61AAD34-6760-449A-A2D4-6D463BA948C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" t="-417" r="12317" b="417"/>
          <a:stretch/>
        </p:blipFill>
        <p:spPr>
          <a:xfrm>
            <a:off x="7194632" y="904875"/>
            <a:ext cx="4654468" cy="457200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7E7BEC-25F4-4C69-A3CD-2FDB9AAB41F3}"/>
              </a:ext>
            </a:extLst>
          </p:cNvPr>
          <p:cNvSpPr txBox="1"/>
          <p:nvPr/>
        </p:nvSpPr>
        <p:spPr>
          <a:xfrm>
            <a:off x="1610740" y="1216152"/>
            <a:ext cx="57410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" panose="02020603050405020304" pitchFamily="18" charset="0"/>
                <a:cs typeface="times" panose="02020603050405020304" pitchFamily="18" charset="0"/>
              </a:rPr>
              <a:t>Data is an important source of information in any kind of project as it allows the analyst to build relationships between what is happening in different measures and categories.</a:t>
            </a:r>
          </a:p>
          <a:p>
            <a:pPr algn="l"/>
            <a:endParaRPr lang="en-IN" b="0" i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l"/>
            <a:r>
              <a:rPr lang="en-IN" b="0" i="0" dirty="0">
                <a:effectLst/>
                <a:latin typeface="times" panose="02020603050405020304" pitchFamily="18" charset="0"/>
                <a:cs typeface="times" panose="02020603050405020304" pitchFamily="18" charset="0"/>
              </a:rPr>
              <a:t>Details: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times" panose="02020603050405020304" pitchFamily="18" charset="0"/>
                <a:cs typeface="times" panose="02020603050405020304" pitchFamily="18" charset="0"/>
              </a:rPr>
              <a:t>Total Rows: 48620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times" panose="02020603050405020304" pitchFamily="18" charset="0"/>
                <a:cs typeface="times" panose="02020603050405020304" pitchFamily="18" charset="0"/>
              </a:rPr>
              <a:t>Total Columns: 12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times" panose="02020603050405020304" pitchFamily="18" charset="0"/>
                <a:cs typeface="times" panose="02020603050405020304" pitchFamily="18" charset="0"/>
              </a:rPr>
              <a:t>Data Format: CSV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times" panose="02020603050405020304" pitchFamily="18" charset="0"/>
                <a:cs typeface="times" panose="02020603050405020304" pitchFamily="18" charset="0"/>
              </a:rPr>
              <a:t>Number of Files: 1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055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6EA1E-5309-44D0-B11D-A695F5EFB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0740" y="0"/>
            <a:ext cx="5426158" cy="585216"/>
          </a:xfrm>
        </p:spPr>
        <p:txBody>
          <a:bodyPr/>
          <a:lstStyle/>
          <a:p>
            <a:pPr algn="l"/>
            <a:r>
              <a:rPr lang="en-IN" dirty="0"/>
              <a:t>II. Dataset Description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3BF476-6C3A-4100-B6E7-4C5B84317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739" y="1286796"/>
            <a:ext cx="7208757" cy="317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343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6EA1E-5309-44D0-B11D-A695F5EFB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0740" y="0"/>
            <a:ext cx="5426158" cy="585216"/>
          </a:xfrm>
        </p:spPr>
        <p:txBody>
          <a:bodyPr/>
          <a:lstStyle/>
          <a:p>
            <a:pPr algn="l"/>
            <a:r>
              <a:rPr lang="en-IN" dirty="0"/>
              <a:t>III. Data Cleaning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7E7BEC-25F4-4C69-A3CD-2FDB9AAB41F3}"/>
              </a:ext>
            </a:extLst>
          </p:cNvPr>
          <p:cNvSpPr txBox="1"/>
          <p:nvPr/>
        </p:nvSpPr>
        <p:spPr>
          <a:xfrm>
            <a:off x="1610740" y="1216152"/>
            <a:ext cx="95723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effectLst/>
                <a:latin typeface="times" panose="02020603050405020304" pitchFamily="18" charset="0"/>
              </a:rPr>
              <a:t>For data cleaning purposes, we used different techniques based on our scenario which are explained in-depth as follows:</a:t>
            </a:r>
          </a:p>
          <a:p>
            <a:endParaRPr lang="en-GB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l"/>
            <a:endParaRPr lang="en-IN" b="0" i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l"/>
            <a:r>
              <a:rPr lang="en-IN" b="0" i="0" dirty="0">
                <a:effectLst/>
                <a:latin typeface="times" panose="02020603050405020304" pitchFamily="18" charset="0"/>
                <a:cs typeface="times" panose="02020603050405020304" pitchFamily="18" charset="0"/>
              </a:rPr>
              <a:t>Details:</a:t>
            </a:r>
          </a:p>
          <a:p>
            <a:pPr lvl="1"/>
            <a:r>
              <a:rPr lang="en-GB" dirty="0">
                <a:latin typeface="times" panose="02020603050405020304" pitchFamily="18" charset="0"/>
                <a:cs typeface="times" panose="02020603050405020304" pitchFamily="18" charset="0"/>
              </a:rPr>
              <a:t>1. Checking the Null values</a:t>
            </a:r>
          </a:p>
          <a:p>
            <a:pPr lvl="1"/>
            <a:r>
              <a:rPr lang="en-GB" dirty="0">
                <a:latin typeface="times" panose="02020603050405020304" pitchFamily="18" charset="0"/>
                <a:cs typeface="times" panose="02020603050405020304" pitchFamily="18" charset="0"/>
              </a:rPr>
              <a:t>2. Check for duplicates</a:t>
            </a:r>
          </a:p>
          <a:p>
            <a:pPr lvl="1"/>
            <a:r>
              <a:rPr lang="en-GB" dirty="0">
                <a:latin typeface="times" panose="02020603050405020304" pitchFamily="18" charset="0"/>
                <a:cs typeface="times" panose="02020603050405020304" pitchFamily="18" charset="0"/>
              </a:rPr>
              <a:t>3. Standardize the Data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318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444329"/>
            <a:ext cx="3041969" cy="566738"/>
          </a:xfrm>
        </p:spPr>
        <p:txBody>
          <a:bodyPr>
            <a:noAutofit/>
          </a:bodyPr>
          <a:lstStyle/>
          <a:p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1. Checking the Null values</a:t>
            </a:r>
            <a:endParaRPr lang="en-IN" sz="200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D317753-37D9-4281-A9AD-67935CDE9DE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4" b="160"/>
          <a:stretch/>
        </p:blipFill>
        <p:spPr>
          <a:xfrm>
            <a:off x="1539431" y="1158240"/>
            <a:ext cx="8226425" cy="363727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34762" y="4617719"/>
            <a:ext cx="7906577" cy="924369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null values found in this dataset.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05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444329"/>
            <a:ext cx="3800921" cy="566738"/>
          </a:xfrm>
        </p:spPr>
        <p:txBody>
          <a:bodyPr>
            <a:noAutofit/>
          </a:bodyPr>
          <a:lstStyle/>
          <a:p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2. Checking the Duplicate values</a:t>
            </a:r>
            <a:endParaRPr lang="en-IN" sz="2000" dirty="0"/>
          </a:p>
        </p:txBody>
      </p:sp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6B4EE1F6-F18C-4DCF-8264-6A31A974298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" r="23145"/>
          <a:stretch/>
        </p:blipFill>
        <p:spPr>
          <a:xfrm>
            <a:off x="1594039" y="1315912"/>
            <a:ext cx="8189843" cy="309439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34762" y="4617719"/>
            <a:ext cx="7906577" cy="92436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times" panose="02020603050405020304" pitchFamily="18" charset="0"/>
              </a:rPr>
              <a:t>No duplicates found in this dataset.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269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444329"/>
            <a:ext cx="3800921" cy="566738"/>
          </a:xfrm>
        </p:spPr>
        <p:txBody>
          <a:bodyPr>
            <a:noAutofit/>
          </a:bodyPr>
          <a:lstStyle/>
          <a:p>
            <a:pPr algn="l"/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3. </a:t>
            </a:r>
            <a:r>
              <a:rPr lang="en-IN" sz="2000" b="0" i="0" dirty="0">
                <a:effectLst/>
                <a:latin typeface="times" panose="02020603050405020304" pitchFamily="18" charset="0"/>
              </a:rPr>
              <a:t>Standardize the Data</a:t>
            </a:r>
            <a:endParaRPr lang="en-IN" sz="200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AC3078E5-020F-4595-8169-6662572EED7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" b="-231"/>
          <a:stretch/>
        </p:blipFill>
        <p:spPr>
          <a:xfrm>
            <a:off x="1594039" y="1192695"/>
            <a:ext cx="7505998" cy="375699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94039" y="4319694"/>
            <a:ext cx="9712358" cy="2093977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we can see that many of the data columns are not in appropriate data type. So convert into proper type.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create columns for month and day of week</a:t>
            </a:r>
          </a:p>
        </p:txBody>
      </p:sp>
    </p:spTree>
    <p:extLst>
      <p:ext uri="{BB962C8B-B14F-4D97-AF65-F5344CB8AC3E}">
        <p14:creationId xmlns:p14="http://schemas.microsoft.com/office/powerpoint/2010/main" val="2698295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6EA1E-5309-44D0-B11D-A695F5EFB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0740" y="0"/>
            <a:ext cx="5426158" cy="585216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IV. Exploratory Data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7E7BEC-25F4-4C69-A3CD-2FDB9AAB41F3}"/>
              </a:ext>
            </a:extLst>
          </p:cNvPr>
          <p:cNvSpPr txBox="1"/>
          <p:nvPr/>
        </p:nvSpPr>
        <p:spPr>
          <a:xfrm>
            <a:off x="1610740" y="1216152"/>
            <a:ext cx="95723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effectLst/>
                <a:latin typeface="times" panose="02020603050405020304" pitchFamily="18" charset="0"/>
              </a:rPr>
              <a:t>For data </a:t>
            </a:r>
            <a:r>
              <a:rPr lang="en-GB" dirty="0">
                <a:latin typeface="times" panose="02020603050405020304" pitchFamily="18" charset="0"/>
              </a:rPr>
              <a:t>analysis</a:t>
            </a:r>
            <a:r>
              <a:rPr lang="en-GB" dirty="0">
                <a:effectLst/>
                <a:latin typeface="times" panose="02020603050405020304" pitchFamily="18" charset="0"/>
              </a:rPr>
              <a:t> purposes, I followed the below steps to analyse the data and provide insights and visualise.</a:t>
            </a:r>
            <a:endParaRPr lang="en-GB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l"/>
            <a:endParaRPr lang="en-IN" b="0" i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l"/>
            <a:r>
              <a:rPr lang="en-IN" b="0" i="0" dirty="0">
                <a:effectLst/>
                <a:latin typeface="times" panose="02020603050405020304" pitchFamily="18" charset="0"/>
                <a:cs typeface="times" panose="02020603050405020304" pitchFamily="18" charset="0"/>
              </a:rPr>
              <a:t>Activities:</a:t>
            </a:r>
          </a:p>
          <a:p>
            <a:pPr marL="800100" lvl="1" indent="-342900">
              <a:buAutoNum type="arabicPeriod"/>
            </a:pPr>
            <a:r>
              <a:rPr lang="en-GB" dirty="0">
                <a:latin typeface="times" panose="02020603050405020304" pitchFamily="18" charset="0"/>
                <a:cs typeface="times" panose="02020603050405020304" pitchFamily="18" charset="0"/>
              </a:rPr>
              <a:t>Summary Statistics</a:t>
            </a:r>
          </a:p>
          <a:p>
            <a:pPr marL="800100" lvl="1" indent="-342900">
              <a:buAutoNum type="arabicPeriod"/>
            </a:pPr>
            <a:r>
              <a:rPr lang="en-GB" dirty="0">
                <a:latin typeface="times" panose="02020603050405020304" pitchFamily="18" charset="0"/>
                <a:cs typeface="times" panose="02020603050405020304" pitchFamily="18" charset="0"/>
              </a:rPr>
              <a:t>Analysis Visualizations</a:t>
            </a:r>
          </a:p>
          <a:p>
            <a:pPr marL="800100" lvl="1" indent="-342900">
              <a:buAutoNum type="arabicPeriod"/>
            </a:pPr>
            <a:r>
              <a:rPr lang="en-GB" dirty="0">
                <a:latin typeface="times" panose="02020603050405020304" pitchFamily="18" charset="0"/>
                <a:cs typeface="times" panose="02020603050405020304" pitchFamily="18" charset="0"/>
              </a:rPr>
              <a:t>Providing Insights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716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444329"/>
            <a:ext cx="3041969" cy="566738"/>
          </a:xfrm>
        </p:spPr>
        <p:txBody>
          <a:bodyPr>
            <a:noAutofit/>
          </a:bodyPr>
          <a:lstStyle/>
          <a:p>
            <a:pPr algn="l"/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A. Summary Statistics</a:t>
            </a:r>
            <a:endParaRPr lang="en-IN" sz="2000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AA610B4E-178D-491A-AB43-00DA9DF917F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8" b="1500"/>
          <a:stretch/>
        </p:blipFill>
        <p:spPr>
          <a:xfrm>
            <a:off x="1594039" y="1011067"/>
            <a:ext cx="8886392" cy="360665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34762" y="4617719"/>
            <a:ext cx="7906577" cy="924369"/>
          </a:xfrm>
        </p:spPr>
        <p:txBody>
          <a:bodyPr>
            <a:normAutofit lnSpcReduction="10000"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know min and max values.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check is there any outliers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know the range of distribution</a:t>
            </a:r>
          </a:p>
        </p:txBody>
      </p:sp>
    </p:spTree>
    <p:extLst>
      <p:ext uri="{BB962C8B-B14F-4D97-AF65-F5344CB8AC3E}">
        <p14:creationId xmlns:p14="http://schemas.microsoft.com/office/powerpoint/2010/main" val="1735448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444329"/>
            <a:ext cx="3041969" cy="566738"/>
          </a:xfrm>
        </p:spPr>
        <p:txBody>
          <a:bodyPr>
            <a:noAutofit/>
          </a:bodyPr>
          <a:lstStyle/>
          <a:p>
            <a:pPr algn="l"/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B. Analysis of the Data</a:t>
            </a:r>
            <a:endParaRPr lang="en-IN" sz="200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3E62514-9F67-4111-B5DD-6BF50271D1E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" b="51216"/>
          <a:stretch/>
        </p:blipFill>
        <p:spPr>
          <a:xfrm>
            <a:off x="1594039" y="1492969"/>
            <a:ext cx="3951996" cy="204746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8656" y="4022332"/>
            <a:ext cx="7906577" cy="92436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analyse and get insights, framed question based on Time and Product.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finding the answer, we can get the insights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Placeholder 6">
            <a:extLst>
              <a:ext uri="{FF2B5EF4-FFF2-40B4-BE49-F238E27FC236}">
                <a16:creationId xmlns:a16="http://schemas.microsoft.com/office/drawing/2014/main" id="{D2227A7A-6390-48D2-9030-C3E27A776DE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428" b="5046"/>
          <a:stretch/>
        </p:blipFill>
        <p:spPr>
          <a:xfrm>
            <a:off x="6645965" y="1492969"/>
            <a:ext cx="3951996" cy="204746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376130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201168"/>
            <a:ext cx="7906577" cy="1016465"/>
          </a:xfrm>
        </p:spPr>
        <p:txBody>
          <a:bodyPr>
            <a:noAutofit/>
          </a:bodyPr>
          <a:lstStyle/>
          <a:p>
            <a:pPr algn="l"/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1. </a:t>
            </a:r>
            <a:r>
              <a:rPr lang="en-GB" sz="2000" b="0" i="0" dirty="0">
                <a:effectLst/>
                <a:latin typeface="times" panose="02020603050405020304" pitchFamily="18" charset="0"/>
              </a:rPr>
              <a:t>Which month has the max sales?</a:t>
            </a:r>
            <a:endParaRPr lang="en-IN" sz="200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3E62514-9F67-4111-B5DD-6BF50271D1E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82" r="449"/>
          <a:stretch/>
        </p:blipFill>
        <p:spPr>
          <a:xfrm>
            <a:off x="1594039" y="1217633"/>
            <a:ext cx="4501961" cy="319351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34762" y="4617719"/>
            <a:ext cx="7906577" cy="92436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max sales was made in July Month(4301).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October is the least sales made month(3797) but not a huge difference.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C745A646-FD5C-4C93-AED8-85F5D6CFE9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" r="413"/>
          <a:stretch/>
        </p:blipFill>
        <p:spPr>
          <a:xfrm>
            <a:off x="6579704" y="1217633"/>
            <a:ext cx="4501961" cy="319351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9BA187F-1175-4BA3-80FF-0955981100F9}"/>
              </a:ext>
            </a:extLst>
          </p:cNvPr>
          <p:cNvSpPr txBox="1">
            <a:spLocks/>
          </p:cNvSpPr>
          <p:nvPr/>
        </p:nvSpPr>
        <p:spPr>
          <a:xfrm>
            <a:off x="1594039" y="205788"/>
            <a:ext cx="3041969" cy="566738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400" b="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A. Time Based Analysis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18954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201169"/>
            <a:ext cx="7906577" cy="924370"/>
          </a:xfrm>
        </p:spPr>
        <p:txBody>
          <a:bodyPr>
            <a:noAutofit/>
          </a:bodyPr>
          <a:lstStyle/>
          <a:p>
            <a:pPr algn="l"/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2. Which hour is the peak sales hour?</a:t>
            </a:r>
            <a:endParaRPr lang="en-IN" sz="200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3E62514-9F67-4111-B5DD-6BF50271D1E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6" r="-1102"/>
          <a:stretch/>
        </p:blipFill>
        <p:spPr>
          <a:xfrm>
            <a:off x="1594039" y="1217632"/>
            <a:ext cx="4501961" cy="319351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34762" y="4617719"/>
            <a:ext cx="7906577" cy="92436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sales was peak between the hours 12 to 1 pm which is basically a lunch time.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again the sales was high between the hours 5 to 6 pm which is basically a break time.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C745A646-FD5C-4C93-AED8-85F5D6CFE9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" r="426"/>
          <a:stretch/>
        </p:blipFill>
        <p:spPr>
          <a:xfrm>
            <a:off x="6241774" y="1274869"/>
            <a:ext cx="4501961" cy="319351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557921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201169"/>
            <a:ext cx="8583233" cy="809896"/>
          </a:xfrm>
        </p:spPr>
        <p:txBody>
          <a:bodyPr>
            <a:noAutofit/>
          </a:bodyPr>
          <a:lstStyle/>
          <a:p>
            <a:pPr algn="l"/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3. Which category sold most in each month?</a:t>
            </a:r>
            <a:endParaRPr lang="en-IN" sz="200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3E62514-9F67-4111-B5DD-6BF50271D1E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6" b="1336"/>
          <a:stretch/>
        </p:blipFill>
        <p:spPr>
          <a:xfrm>
            <a:off x="1594039" y="1217633"/>
            <a:ext cx="4501961" cy="319351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34762" y="4617719"/>
            <a:ext cx="7906577" cy="92436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above visual clearly shows that on every month, 'Classic' category pizzas were sold most.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Among these months, 'July' is the most sales made month.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C745A646-FD5C-4C93-AED8-85F5D6CFE9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" r="444"/>
          <a:stretch/>
        </p:blipFill>
        <p:spPr>
          <a:xfrm>
            <a:off x="6733158" y="1217633"/>
            <a:ext cx="4501961" cy="319351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089857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201169"/>
            <a:ext cx="8043737" cy="809894"/>
          </a:xfrm>
        </p:spPr>
        <p:txBody>
          <a:bodyPr>
            <a:noAutofit/>
          </a:bodyPr>
          <a:lstStyle/>
          <a:p>
            <a:pPr algn="l"/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4. When was the sales made high, in weekday or weekends?</a:t>
            </a:r>
            <a:endParaRPr lang="en-IN" sz="200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3E62514-9F67-4111-B5DD-6BF50271D1E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5" r="299"/>
          <a:stretch/>
        </p:blipFill>
        <p:spPr>
          <a:xfrm>
            <a:off x="1594040" y="1217632"/>
            <a:ext cx="4644836" cy="319351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34762" y="4617719"/>
            <a:ext cx="7906577" cy="92436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highest sales was made on Fridays(8106) which is a weekday.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we have to notice that 'Sundays' made the low sales in weeks.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C745A646-FD5C-4C93-AED8-85F5D6CFE9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" r="-279"/>
          <a:stretch/>
        </p:blipFill>
        <p:spPr>
          <a:xfrm>
            <a:off x="6682587" y="1217631"/>
            <a:ext cx="4644836" cy="319351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031059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201169"/>
            <a:ext cx="8043737" cy="809894"/>
          </a:xfrm>
        </p:spPr>
        <p:txBody>
          <a:bodyPr>
            <a:noAutofit/>
          </a:bodyPr>
          <a:lstStyle/>
          <a:p>
            <a:pPr algn="l"/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5. Which day of week generated the high revenue?</a:t>
            </a:r>
            <a:endParaRPr lang="en-IN" sz="200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3E62514-9F67-4111-B5DD-6BF50271D1E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22" r="354"/>
          <a:stretch/>
        </p:blipFill>
        <p:spPr>
          <a:xfrm>
            <a:off x="1594039" y="1217632"/>
            <a:ext cx="4501962" cy="319351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34762" y="4617719"/>
            <a:ext cx="7906577" cy="92436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max revenue was generated on Fridays(136073.90) which is a weekday.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we have to notice that 'Sundays'(99203.50) made the low sales revenue in weeks.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C745A646-FD5C-4C93-AED8-85F5D6CFE9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/>
          <a:stretch/>
        </p:blipFill>
        <p:spPr>
          <a:xfrm>
            <a:off x="6515100" y="1217631"/>
            <a:ext cx="5064370" cy="319351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4121176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201169"/>
            <a:ext cx="8043737" cy="809894"/>
          </a:xfrm>
        </p:spPr>
        <p:txBody>
          <a:bodyPr>
            <a:noAutofit/>
          </a:bodyPr>
          <a:lstStyle/>
          <a:p>
            <a:pPr algn="l"/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6. Which category sold most in each day of week?</a:t>
            </a:r>
            <a:endParaRPr lang="en-IN" sz="200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3E62514-9F67-4111-B5DD-6BF50271D1E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7" t="174" r="-1" b="-116"/>
          <a:stretch/>
        </p:blipFill>
        <p:spPr>
          <a:xfrm>
            <a:off x="1594039" y="1217631"/>
            <a:ext cx="4182072" cy="329180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34762" y="4617719"/>
            <a:ext cx="8043737" cy="1167445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above visual clearly shows that on every day of week, 'Classic' category pizzas were sold most.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Among the days, 'Friday' is the most sales made day for 'Classic' category pizzas.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C745A646-FD5C-4C93-AED8-85F5D6CFE9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9" t="-1645" r="1" b="1645"/>
          <a:stretch/>
        </p:blipFill>
        <p:spPr>
          <a:xfrm>
            <a:off x="6029325" y="1217631"/>
            <a:ext cx="4933950" cy="329180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607840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E142E-F33D-4026-9E17-5B52E8C93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874" y="210283"/>
            <a:ext cx="4798526" cy="518746"/>
          </a:xfrm>
        </p:spPr>
        <p:txBody>
          <a:bodyPr>
            <a:noAutofit/>
          </a:bodyPr>
          <a:lstStyle/>
          <a:p>
            <a:pPr algn="l"/>
            <a:r>
              <a:rPr lang="en-IN" sz="2800" dirty="0"/>
              <a:t>Time Based Analysis Insights: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B01187-BBD8-4922-ACD5-0A2FEB73C43F}"/>
              </a:ext>
            </a:extLst>
          </p:cNvPr>
          <p:cNvSpPr txBox="1"/>
          <p:nvPr/>
        </p:nvSpPr>
        <p:spPr>
          <a:xfrm>
            <a:off x="1630849" y="920621"/>
            <a:ext cx="598915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max sales was made in July Month(4301).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October is the least sales made month(3797) but not a huge difference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sales was peak between the hours 12 to 1 pm which is basically a lunch time.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again the sales was high between the hours 5 to 6 pm which is basically a break time.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above visual clearly shows that on every month, 'Classic' category pizzas were sold most.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Among these months, 'July' is the most sales made month.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highest sales was made on Fridays(8106) which is a weekday.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we have to notice that 'Sundays' made the low sales in weeks.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max revenue was generated on Fridays(136073.90) which is a weekday.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we have to notice that 'Sundays'(99203.50) made the low sales revenue in weeks.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above visual clearly shows that on every day of week, 'Classic' category pizzas were sold most.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Among the days, 'Friday' is the most sales made day for 'Classic' category pizzas.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2B9A8B4-68BA-4F10-845F-54EDE781A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991475" y="1533525"/>
            <a:ext cx="3778957" cy="3790949"/>
          </a:xfrm>
          <a:prstGeom prst="rect">
            <a:avLst/>
          </a:prstGeom>
          <a:noFill/>
          <a:ln w="38100" cap="rnd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9000">
                  <a:schemeClr val="tx2">
                    <a:lumMod val="50000"/>
                    <a:lumOff val="50000"/>
                  </a:schemeClr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2414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201168"/>
            <a:ext cx="7906577" cy="1016465"/>
          </a:xfrm>
        </p:spPr>
        <p:txBody>
          <a:bodyPr>
            <a:noAutofit/>
          </a:bodyPr>
          <a:lstStyle/>
          <a:p>
            <a:pPr algn="l"/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1. </a:t>
            </a:r>
            <a:r>
              <a:rPr lang="en-GB" sz="2000" b="0" i="0" dirty="0">
                <a:effectLst/>
                <a:latin typeface="times" panose="02020603050405020304" pitchFamily="18" charset="0"/>
              </a:rPr>
              <a:t>What is the sales percentage of each category?</a:t>
            </a:r>
            <a:endParaRPr lang="en-IN" sz="200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3E62514-9F67-4111-B5DD-6BF50271D1E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94039" y="1217633"/>
            <a:ext cx="4501961" cy="319351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34762" y="4617719"/>
            <a:ext cx="7906577" cy="1497331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1st - Classic = 30%(14579)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2nd - Supreme = 24.2%(11777)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3rd - Veggie = 23.5%(11449)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4th - Chicken = 22.2%(10815)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C745A646-FD5C-4C93-AED8-85F5D6CFE9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" r="-423"/>
          <a:stretch/>
        </p:blipFill>
        <p:spPr>
          <a:xfrm>
            <a:off x="6579704" y="1217633"/>
            <a:ext cx="4501961" cy="319351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9BA187F-1175-4BA3-80FF-0955981100F9}"/>
              </a:ext>
            </a:extLst>
          </p:cNvPr>
          <p:cNvSpPr txBox="1">
            <a:spLocks/>
          </p:cNvSpPr>
          <p:nvPr/>
        </p:nvSpPr>
        <p:spPr>
          <a:xfrm>
            <a:off x="1594039" y="205788"/>
            <a:ext cx="3041969" cy="566738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400" b="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A. Product Based Analysis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472794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201169"/>
            <a:ext cx="7906577" cy="924370"/>
          </a:xfrm>
        </p:spPr>
        <p:txBody>
          <a:bodyPr>
            <a:noAutofit/>
          </a:bodyPr>
          <a:lstStyle/>
          <a:p>
            <a:pPr algn="l"/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2. Which pizza category sold most?</a:t>
            </a:r>
            <a:endParaRPr lang="en-IN" sz="200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3E62514-9F67-4111-B5DD-6BF50271D1E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" t="-1792" r="-76" b="1792"/>
          <a:stretch/>
        </p:blipFill>
        <p:spPr>
          <a:xfrm>
            <a:off x="1594039" y="1217632"/>
            <a:ext cx="4501961" cy="319351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34762" y="4617719"/>
            <a:ext cx="7906577" cy="92436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 category pizzas were mostly sold(14888).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Chicken category pizzas were least sold(11050).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C745A646-FD5C-4C93-AED8-85F5D6CFE9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" r="-4"/>
          <a:stretch/>
        </p:blipFill>
        <p:spPr>
          <a:xfrm>
            <a:off x="6241774" y="1274869"/>
            <a:ext cx="4501961" cy="319351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4793874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201169"/>
            <a:ext cx="8583233" cy="809896"/>
          </a:xfrm>
        </p:spPr>
        <p:txBody>
          <a:bodyPr>
            <a:noAutofit/>
          </a:bodyPr>
          <a:lstStyle/>
          <a:p>
            <a:pPr algn="l"/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3. Which category generated high revenue?</a:t>
            </a:r>
            <a:endParaRPr lang="en-IN" sz="200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3E62514-9F67-4111-B5DD-6BF50271D1E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-1"/>
          <a:stretch/>
        </p:blipFill>
        <p:spPr>
          <a:xfrm>
            <a:off x="1594039" y="1217633"/>
            <a:ext cx="4501961" cy="319351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34762" y="4617719"/>
            <a:ext cx="7906577" cy="92436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 category pizzas were generated high revenue(220053.10).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Veggie category pizzas were generated low revenue(193690.45).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C745A646-FD5C-4C93-AED8-85F5D6CFE9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23" r="423"/>
          <a:stretch/>
        </p:blipFill>
        <p:spPr>
          <a:xfrm>
            <a:off x="6733158" y="1217633"/>
            <a:ext cx="4501961" cy="319351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430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201169"/>
            <a:ext cx="8043737" cy="809894"/>
          </a:xfrm>
        </p:spPr>
        <p:txBody>
          <a:bodyPr>
            <a:noAutofit/>
          </a:bodyPr>
          <a:lstStyle/>
          <a:p>
            <a:pPr algn="l"/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4. What are the top 10 most sold pizzas?</a:t>
            </a:r>
            <a:endParaRPr lang="en-IN" sz="200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3E62514-9F67-4111-B5DD-6BF50271D1E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94040" y="1217632"/>
            <a:ext cx="4644836" cy="319351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29298" y="4615811"/>
            <a:ext cx="7906577" cy="1687831"/>
          </a:xfrm>
        </p:spPr>
        <p:txBody>
          <a:bodyPr numCol="2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Classic Deluxe Pizza = 2453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Barbecue Chicken Pizza = 2432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Hawaiian Pizza = 2422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Pepperoni Pizza = 2418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Thai Chicken Pizza = 2371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California Chicken Pizza = 2370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Sicilian Pizza = 1938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Spicy Italian Pizza = 1924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Southwest Chicken Pizza = 1917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Big Meat Pizza = 1914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C745A646-FD5C-4C93-AED8-85F5D6CFE9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0" t="293" r="120" b="-293"/>
          <a:stretch/>
        </p:blipFill>
        <p:spPr>
          <a:xfrm>
            <a:off x="6682587" y="1217631"/>
            <a:ext cx="4644836" cy="319351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314509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201169"/>
            <a:ext cx="8043737" cy="809894"/>
          </a:xfrm>
        </p:spPr>
        <p:txBody>
          <a:bodyPr>
            <a:noAutofit/>
          </a:bodyPr>
          <a:lstStyle/>
          <a:p>
            <a:pPr algn="l"/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5. Which are the least sold pizzas?</a:t>
            </a:r>
            <a:endParaRPr lang="en-IN" sz="200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3E62514-9F67-4111-B5DD-6BF50271D1E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94039" y="1217632"/>
            <a:ext cx="4501962" cy="319351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72912" y="4606286"/>
            <a:ext cx="7906577" cy="1821181"/>
          </a:xfrm>
        </p:spPr>
        <p:txBody>
          <a:bodyPr numCol="2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Brie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Carre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Pizza = 490  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Mediterranean Pizza = 934  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Calabrese Pizza = 937  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Spinach Supreme Pizza = 950  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Soppressata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Pizza = 961  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Spinach Pesto Pizza = 970  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Chicken Pesto Pizza = 973  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Italian Vegetables Pizza = 981  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Chicken Alfredo Pizza = 987  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Green Garden Pizza = 997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C745A646-FD5C-4C93-AED8-85F5D6CFE9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" r="506"/>
          <a:stretch/>
        </p:blipFill>
        <p:spPr>
          <a:xfrm>
            <a:off x="6515100" y="1217631"/>
            <a:ext cx="5064370" cy="319351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41499490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201169"/>
            <a:ext cx="8043737" cy="809894"/>
          </a:xfrm>
        </p:spPr>
        <p:txBody>
          <a:bodyPr>
            <a:noAutofit/>
          </a:bodyPr>
          <a:lstStyle/>
          <a:p>
            <a:pPr algn="l"/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6. Which size of the pizza is mostly preferred?</a:t>
            </a:r>
            <a:endParaRPr lang="en-IN" sz="200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3E62514-9F67-4111-B5DD-6BF50271D1E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32"/>
          <a:stretch/>
        </p:blipFill>
        <p:spPr>
          <a:xfrm>
            <a:off x="1594039" y="1217631"/>
            <a:ext cx="4182072" cy="329180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34762" y="4617719"/>
            <a:ext cx="8043737" cy="1167445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'L' size pizzas were the most preferred pizza size(18956).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'XXL'(28) and 'XL'(552) size pizzas were the least preferred pizza size.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C745A646-FD5C-4C93-AED8-85F5D6CFE9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" r="-625"/>
          <a:stretch/>
        </p:blipFill>
        <p:spPr>
          <a:xfrm>
            <a:off x="6029325" y="1217631"/>
            <a:ext cx="4933950" cy="329180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9111885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201169"/>
            <a:ext cx="8043737" cy="809894"/>
          </a:xfrm>
        </p:spPr>
        <p:txBody>
          <a:bodyPr>
            <a:noAutofit/>
          </a:bodyPr>
          <a:lstStyle/>
          <a:p>
            <a:pPr algn="l"/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7. Which pizza is mostly sold in each category?</a:t>
            </a:r>
            <a:endParaRPr lang="en-IN" sz="200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3E62514-9F67-4111-B5DD-6BF50271D1E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33"/>
          <a:stretch/>
        </p:blipFill>
        <p:spPr>
          <a:xfrm>
            <a:off x="1594039" y="1217631"/>
            <a:ext cx="4182072" cy="329180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38349" y="4570759"/>
            <a:ext cx="8043737" cy="2115772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Sold Pizza in Each Category  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Chicken - The Barbecue Chicken Pizza - 2372  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 - The Classic Deluxe Pizza - 2416  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Supreme - The Sicilian Pizza - 1887  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Veggie - The Four Cheese Pizza - 1850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C745A646-FD5C-4C93-AED8-85F5D6CFE9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" r="192"/>
          <a:stretch/>
        </p:blipFill>
        <p:spPr>
          <a:xfrm>
            <a:off x="6029325" y="1217631"/>
            <a:ext cx="4933950" cy="329180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42260496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201169"/>
            <a:ext cx="8043737" cy="809894"/>
          </a:xfrm>
        </p:spPr>
        <p:txBody>
          <a:bodyPr>
            <a:noAutofit/>
          </a:bodyPr>
          <a:lstStyle/>
          <a:p>
            <a:pPr algn="l"/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8. Compare the sizes of pizzas in each category.</a:t>
            </a:r>
            <a:endParaRPr lang="en-IN" sz="200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3E62514-9F67-4111-B5DD-6BF50271D1E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" r="-95"/>
          <a:stretch/>
        </p:blipFill>
        <p:spPr>
          <a:xfrm>
            <a:off x="1594039" y="1217631"/>
            <a:ext cx="4182072" cy="329180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34762" y="4617719"/>
            <a:ext cx="8043737" cy="1167445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every category, 'L' sized pizzas were sold most.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'XL' sized pizzas were not sold in any kind.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'XXL' sized pizzas were sold only in Classic category.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C745A646-FD5C-4C93-AED8-85F5D6CFE9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" r="716"/>
          <a:stretch/>
        </p:blipFill>
        <p:spPr>
          <a:xfrm>
            <a:off x="6029325" y="1217631"/>
            <a:ext cx="4933950" cy="329180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6843910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E142E-F33D-4026-9E17-5B52E8C93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874" y="47625"/>
            <a:ext cx="5084276" cy="518746"/>
          </a:xfrm>
        </p:spPr>
        <p:txBody>
          <a:bodyPr>
            <a:noAutofit/>
          </a:bodyPr>
          <a:lstStyle/>
          <a:p>
            <a:pPr algn="l"/>
            <a:r>
              <a:rPr lang="en-IN" sz="2800" dirty="0"/>
              <a:t>Product Based Analysis Insights: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B01187-BBD8-4922-ACD5-0A2FEB73C43F}"/>
              </a:ext>
            </a:extLst>
          </p:cNvPr>
          <p:cNvSpPr txBox="1"/>
          <p:nvPr/>
        </p:nvSpPr>
        <p:spPr>
          <a:xfrm>
            <a:off x="329649" y="718771"/>
            <a:ext cx="7324725" cy="6555641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Percentage by Category: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1st - Classic = 30%(14579)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2nd - Supreme = 24.2%(11777)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3rd - Veggie = 23.5%(11449)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4th - Chicken = 22.2%(10815)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 category pizzas were mostly sold(14888).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Chicken category pizzas were least sold(11050).</a:t>
            </a:r>
          </a:p>
          <a:p>
            <a:pPr algn="l"/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 category pizzas were generated high revenue(220053.10).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Veggie category pizzas were generated low revenue(193690.45).</a:t>
            </a:r>
          </a:p>
          <a:p>
            <a:pPr algn="l"/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400" dirty="0">
                <a:latin typeface="times" panose="02020603050405020304" pitchFamily="18" charset="0"/>
                <a:cs typeface="times" panose="02020603050405020304" pitchFamily="18" charset="0"/>
              </a:rPr>
              <a:t>Top 10 Most Sold Pizzas: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Classic Deluxe Pizza = 2453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Barbecue Chicken Pizza = 2432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Hawaiian Pizza = 2422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Pepperoni Pizza = 2418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Thai Chicken Pizza = 2371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California Chicken Pizza = 2370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Sicilian Pizza = 1938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Spicy Italian Pizza = 1924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Southwest Chicken Pizza = 1917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Big Meat Pizza = 1914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'L' size pizzas were the most preferred pizza size(18956).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'XXL'(28) and 'XL'(552) size pizzas were the least preferred pizza size.</a:t>
            </a:r>
          </a:p>
          <a:p>
            <a:pPr algn="l"/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 Sold Pizzas: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Brie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Carre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Pizza = 490  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Mediterranean Pizza = 934  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Calabrese Pizza = 937  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Spinach Supreme Pizza = 950  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Soppressata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Pizza = 961  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Spinach Pesto Pizza = 970  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Chicken Pesto Pizza = 973  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Italian Vegetables Pizza = 981  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Chicken Alfredo Pizza = 987  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Green Garden Pizza = 997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Sold Pizza in Each Category  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Chicken - The Barbecue Chicken Pizza - 2372  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 - The Classic Deluxe Pizza - 2416  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Supreme - The Sicilian Pizza - 1887  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Veggie - The Four Cheese Pizza - 1850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every category, 'L' sized pizzas were sold most.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'XL' sized pizzas were not sold in any kind.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'XXL' sized pizzas were sold only in Classic category.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2B9A8B4-68BA-4F10-845F-54EDE781A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795961" y="920620"/>
            <a:ext cx="4189101" cy="5175380"/>
          </a:xfrm>
          <a:prstGeom prst="rect">
            <a:avLst/>
          </a:prstGeom>
          <a:noFill/>
          <a:ln w="38100" cap="rnd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9000">
                  <a:schemeClr val="tx2">
                    <a:lumMod val="50000"/>
                    <a:lumOff val="50000"/>
                  </a:schemeClr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60301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70265-9AD1-40FC-920E-7932E4369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2350" y="2724149"/>
            <a:ext cx="3082922" cy="1100731"/>
          </a:xfrm>
        </p:spPr>
        <p:txBody>
          <a:bodyPr/>
          <a:lstStyle/>
          <a:p>
            <a:r>
              <a:rPr lang="en-GB" dirty="0"/>
              <a:t>Thank You…!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08D65-3DAC-45E5-BF6D-E4E4F597E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07164" y="3824881"/>
            <a:ext cx="2948107" cy="860400"/>
          </a:xfrm>
        </p:spPr>
        <p:txBody>
          <a:bodyPr>
            <a:normAutofit/>
          </a:bodyPr>
          <a:lstStyle/>
          <a:p>
            <a:r>
              <a:rPr lang="en-GB" sz="1600" dirty="0"/>
              <a:t>Analysis by:				</a:t>
            </a:r>
          </a:p>
          <a:p>
            <a:r>
              <a:rPr lang="en-GB" sz="1600" dirty="0"/>
              <a:t>Loganathan R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835616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427</TotalTime>
  <Words>1493</Words>
  <Application>Microsoft Office PowerPoint</Application>
  <PresentationFormat>Widescreen</PresentationFormat>
  <Paragraphs>186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Corbel</vt:lpstr>
      <vt:lpstr>times</vt:lpstr>
      <vt:lpstr>Times New Roman</vt:lpstr>
      <vt:lpstr>Parallax</vt:lpstr>
      <vt:lpstr>Pizza Sales – Data Analysis  </vt:lpstr>
      <vt:lpstr>I. Introduction</vt:lpstr>
      <vt:lpstr>II. Dataset Description</vt:lpstr>
      <vt:lpstr>II. Dataset Description</vt:lpstr>
      <vt:lpstr>III. Data Cleaning</vt:lpstr>
      <vt:lpstr>1. Checking the Null values</vt:lpstr>
      <vt:lpstr>2. Checking the Duplicate values</vt:lpstr>
      <vt:lpstr>3. Standardize the Data</vt:lpstr>
      <vt:lpstr>IV. Exploratory Data Analysis</vt:lpstr>
      <vt:lpstr>A. Summary Statistics</vt:lpstr>
      <vt:lpstr>B. Analysis of the Data</vt:lpstr>
      <vt:lpstr>1. Which month has the max sales?</vt:lpstr>
      <vt:lpstr>2. Which hour is the peak sales hour?</vt:lpstr>
      <vt:lpstr>3. Which category sold most in each month?</vt:lpstr>
      <vt:lpstr>4. When was the sales made high, in weekday or weekends?</vt:lpstr>
      <vt:lpstr>5. Which day of week generated the high revenue?</vt:lpstr>
      <vt:lpstr>6. Which category sold most in each day of week?</vt:lpstr>
      <vt:lpstr>Time Based Analysis Insights:</vt:lpstr>
      <vt:lpstr>1. What is the sales percentage of each category?</vt:lpstr>
      <vt:lpstr>2. Which pizza category sold most?</vt:lpstr>
      <vt:lpstr>3. Which category generated high revenue?</vt:lpstr>
      <vt:lpstr>4. What are the top 10 most sold pizzas?</vt:lpstr>
      <vt:lpstr>5. Which are the least sold pizzas?</vt:lpstr>
      <vt:lpstr>6. Which size of the pizza is mostly preferred?</vt:lpstr>
      <vt:lpstr>7. Which pizza is mostly sold in each category?</vt:lpstr>
      <vt:lpstr>8. Compare the sizes of pizzas in each category.</vt:lpstr>
      <vt:lpstr>Product Based Analysis Insights:</vt:lpstr>
      <vt:lpstr>Thank You…!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 Accidents Data Analysis</dc:title>
  <dc:creator>Logan Chetty</dc:creator>
  <cp:lastModifiedBy>Logan Chetty</cp:lastModifiedBy>
  <cp:revision>46</cp:revision>
  <dcterms:created xsi:type="dcterms:W3CDTF">2025-10-24T08:04:58Z</dcterms:created>
  <dcterms:modified xsi:type="dcterms:W3CDTF">2025-11-02T11:45:43Z</dcterms:modified>
</cp:coreProperties>
</file>